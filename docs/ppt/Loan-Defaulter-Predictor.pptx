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6EB04-7FA7-6859-4817-69DC99E62E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E2579B-2894-4F83-517C-2F517EC3AC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160CE-D43A-4BC6-FD62-4782A8169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C5656-7937-4593-83E5-2676AD27AB62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81F6F2-A6D5-FE11-F147-E993CD595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9731F5-B8BF-49A7-5160-5DF15BE16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E8A90-1E41-4B85-8A5E-1C5A72493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7710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9B996-AEC3-1605-7AA7-4AAB84BF3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47D74-202C-0068-FEBD-FBD6F508C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4F397C-FCF8-AD6D-87A6-EDC983E39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C5656-7937-4593-83E5-2676AD27AB62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52783D-65A6-9F4B-B5F3-20E028583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9375E-041A-C8D0-9946-2A064792E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E8A90-1E41-4B85-8A5E-1C5A72493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2804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9EE83-2B3D-1CCA-7375-B2DCBE6E4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28E800-26EA-9337-AE16-1FC63456D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32DC8-A55B-BD1D-B67A-84EC61C16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C5656-7937-4593-83E5-2676AD27AB62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1CCF0-006E-1226-D630-21865D6DD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26C15-7C1B-AF7B-18DA-95A3A84E5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E8A90-1E41-4B85-8A5E-1C5A72493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2196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4A5F2-7598-62F3-B093-5596C8E76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6D758-33E5-3C0B-AF04-31B983DB0D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1D39DB-93A3-0503-5903-A18CEA75D3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77CDEE-EF6F-C0A3-D0C7-A909E43F6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C5656-7937-4593-83E5-2676AD27AB62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C7C6D0-F1F9-1DF2-ED88-EBBA36FEC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2C497-8317-F279-F4E2-D13CB9AEE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E8A90-1E41-4B85-8A5E-1C5A72493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3399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207FF-4781-D372-18CE-2467D2A6D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B1B513-4616-6CFA-3AE8-AF8354EB1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971E60-764E-F41A-33EA-A19461B752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79F4F7-962C-0DE8-68B5-D7B8E70CCD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B5F7CD-7F37-CA22-DE3B-C47DE9EB30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9468CD-0034-718A-E9C9-CAB99B7BF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C5656-7937-4593-83E5-2676AD27AB62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EED793-A5EB-ADE3-815E-F2021D6F8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E1DF6E-9B30-54FA-0FF2-D57412DA6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E8A90-1E41-4B85-8A5E-1C5A72493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4955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3A470-1609-6E6B-8054-71E025097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6BF9FF-CD3F-6409-025B-59898AE13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C5656-7937-4593-83E5-2676AD27AB62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A68A80-EB30-B0F6-ECB3-5AB4C2814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C1ACB4-7684-00D3-F4B1-B95A4936F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E8A90-1E41-4B85-8A5E-1C5A72493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791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AFF2D0-4144-067E-C795-827065709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C5656-7937-4593-83E5-2676AD27AB62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592BA2-8731-4D1F-7877-7647B17A2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9A168F-0E34-7868-14ED-2E05E998C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E8A90-1E41-4B85-8A5E-1C5A72493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394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CB1EE-F3F8-588B-B9C3-12B28CFC5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58694-C3BB-AE99-7F31-E9E3BAED7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6831BA-C4B0-8F73-F846-101CB31B30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02F3BD-0516-DB63-6A2E-B70EE0CDA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C5656-7937-4593-83E5-2676AD27AB62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966B7B-F01C-6D02-81C7-17243F450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E30A99-D2E1-02A6-694F-D3EE8FFEC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E8A90-1E41-4B85-8A5E-1C5A72493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0077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56A17-D741-AD92-B034-359EA077E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D15E9A-DCF5-4921-B0E2-54A0913F51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B616C1-9858-5DEC-A21D-0A9F2E004B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61DD57-83FD-9007-899A-73E114E3B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C5656-7937-4593-83E5-2676AD27AB62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9313AB-A203-7E7D-6772-C505B390B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A01DF7-5708-E4EB-11D7-7F7372835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E8A90-1E41-4B85-8A5E-1C5A72493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0171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BEBC1-BFFA-DAA2-1B70-1FB3221A4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739A74-06E4-C3DD-F749-229784ADD4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5F93F-0FB8-6F1C-D8E7-095972996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C5656-7937-4593-83E5-2676AD27AB62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A8FF4-9B53-456D-DB91-41407C05C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691F9-2D26-BA3B-1536-25DFEC61A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E8A90-1E41-4B85-8A5E-1C5A72493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9829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3F637D-8758-4E17-58C9-2C7C550C99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9E7A48-791E-1E59-5E88-C9C6D06A44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C28EB-43F1-C016-B37F-16848C7C8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C5656-7937-4593-83E5-2676AD27AB62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B1A5E2-B845-20CB-858D-683FE320C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5E598-FF67-A0AD-8A36-88C3AE03A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E8A90-1E41-4B85-8A5E-1C5A72493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3333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6C3A35-4A09-9D9D-8A93-6FB580216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58AA1-96F4-C7D8-7ADD-270748E97D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AA54B-6F87-DC23-1C93-12B1D06D9F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2C5656-7937-4593-83E5-2676AD27AB62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DA3AB0-A956-E898-FD69-678FF4B2B4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504C6-5F53-CECB-1B53-96DAB274EB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6E8A90-1E41-4B85-8A5E-1C5A72493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059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ACDAD-6296-3FAC-3426-7078D85FFE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Loan-Defaulter-Predictor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5FABA3-CFB6-1AAE-2717-4CE6770FA4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Submitted By – Harshit Waldia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4841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C9CC2-ADB0-5A4F-F9AD-6C97CB456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Introduction &amp; Objective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BDD60-D646-85F6-0C79-D032C0973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Introduction</a:t>
            </a:r>
          </a:p>
          <a:p>
            <a:r>
              <a:rPr lang="en-US" dirty="0"/>
              <a:t>Banks face financial risk when borrowers fail to repay loans. Using data and machine learning, this project aims to analyze borrower patterns and build a model that predicts loan default more accurately.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r>
              <a:rPr lang="en-US" b="1" dirty="0"/>
              <a:t>Objective</a:t>
            </a:r>
          </a:p>
          <a:p>
            <a:r>
              <a:rPr lang="en-US" dirty="0"/>
              <a:t>Understand key factors leading to loan default.</a:t>
            </a:r>
          </a:p>
          <a:p>
            <a:r>
              <a:rPr lang="en-US" dirty="0"/>
              <a:t>Prepare and clean the dataset for modeling.</a:t>
            </a:r>
          </a:p>
          <a:p>
            <a:r>
              <a:rPr lang="en-US" dirty="0"/>
              <a:t>Build and evaluate a predictive model for default risk.</a:t>
            </a:r>
          </a:p>
          <a:p>
            <a:r>
              <a:rPr lang="en-US" dirty="0"/>
              <a:t>Support better and safer loan approval decisions.</a:t>
            </a:r>
          </a:p>
        </p:txBody>
      </p:sp>
    </p:spTree>
    <p:extLst>
      <p:ext uri="{BB962C8B-B14F-4D97-AF65-F5344CB8AC3E}">
        <p14:creationId xmlns:p14="http://schemas.microsoft.com/office/powerpoint/2010/main" val="3221852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96E35-F4BA-BFB3-CEDC-53FFFF5ED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 Understanding &amp; Cleaning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71D16-510A-DA69-9DF1-F2FA90AEE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Explored the dataset to understand borrower details, loan features, and repayment behavior.</a:t>
            </a:r>
          </a:p>
          <a:p>
            <a:r>
              <a:rPr lang="en-US" dirty="0"/>
              <a:t>Identified missing values, outliers, and inconsistent entries.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Insights:</a:t>
            </a:r>
          </a:p>
          <a:p>
            <a:r>
              <a:rPr lang="en-US" dirty="0"/>
              <a:t> </a:t>
            </a:r>
            <a:r>
              <a:rPr lang="en-US" b="1" dirty="0"/>
              <a:t>On average, the interest rate of a 60-month term loan is 3.7 % higher than that of a 36-month term loan. We can also see that the interest rates differ among different loan purposes. The maximum loan limit is up to $35,000.</a:t>
            </a:r>
            <a:endParaRPr lang="en-US" dirty="0"/>
          </a:p>
          <a:p>
            <a:r>
              <a:rPr lang="en-US" b="1" dirty="0"/>
              <a:t>The interest rate shows a  strong correlation with the credit grade. The higher the credit grade, the lower the interest rate.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Encoded categorical variables and standardized numerical features where required.</a:t>
            </a:r>
          </a:p>
          <a:p>
            <a:r>
              <a:rPr lang="en-US" dirty="0"/>
              <a:t>Performed feature selection to keep only meaningful predictors for modeling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0864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4C79E-C892-A23B-C457-BFEFDC2DA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Approach / Methodology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200CA-272B-F479-105D-E931B9ED89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2200" b="1" dirty="0"/>
              <a:t>Workflow Overview</a:t>
            </a:r>
          </a:p>
          <a:p>
            <a:r>
              <a:rPr lang="en-IN" sz="1600" dirty="0"/>
              <a:t>Loaded data → Performed EDA → Cleaned &amp; encoded features</a:t>
            </a:r>
          </a:p>
          <a:p>
            <a:r>
              <a:rPr lang="en-IN" sz="1600" dirty="0"/>
              <a:t>Selected important variables → Trained ML models → Evaluated performance</a:t>
            </a:r>
          </a:p>
          <a:p>
            <a:r>
              <a:rPr lang="en-IN" sz="1600" dirty="0"/>
              <a:t>Final model used to generate predictions on test data</a:t>
            </a:r>
          </a:p>
          <a:p>
            <a:pPr marL="0" indent="0">
              <a:buNone/>
            </a:pPr>
            <a:r>
              <a:rPr lang="en-IN" sz="2200" b="1" dirty="0"/>
              <a:t>Techniques &amp; Models Used</a:t>
            </a:r>
          </a:p>
          <a:p>
            <a:r>
              <a:rPr lang="en-IN" sz="1600" dirty="0"/>
              <a:t>Supervised Classification models: </a:t>
            </a:r>
            <a:r>
              <a:rPr lang="en-IN" sz="1600" b="1" dirty="0"/>
              <a:t>Random Forest</a:t>
            </a:r>
            <a:r>
              <a:rPr lang="en-IN" sz="1600" dirty="0"/>
              <a:t>, </a:t>
            </a:r>
            <a:r>
              <a:rPr lang="en-IN" sz="1600" b="1" dirty="0"/>
              <a:t>SVM</a:t>
            </a:r>
            <a:endParaRPr lang="en-IN" sz="1600" dirty="0"/>
          </a:p>
          <a:p>
            <a:r>
              <a:rPr lang="en-IN" sz="1600" dirty="0"/>
              <a:t>Feature engineering to improve model accuracy and remove noise</a:t>
            </a:r>
          </a:p>
          <a:p>
            <a:pPr marL="0" indent="0">
              <a:buNone/>
            </a:pPr>
            <a:r>
              <a:rPr lang="en-IN" sz="2200" b="1" dirty="0"/>
              <a:t>Rationale</a:t>
            </a:r>
          </a:p>
          <a:p>
            <a:r>
              <a:rPr lang="en-IN" sz="1600" b="1" dirty="0"/>
              <a:t>Random Forest</a:t>
            </a:r>
            <a:r>
              <a:rPr lang="en-IN" sz="1600" dirty="0"/>
              <a:t> chosen for handling large feature sets, non-linear patterns, and robustness to missing/noisy data</a:t>
            </a:r>
          </a:p>
          <a:p>
            <a:r>
              <a:rPr lang="en-IN" sz="1600" b="1" dirty="0"/>
              <a:t>SVM</a:t>
            </a:r>
            <a:r>
              <a:rPr lang="en-IN" sz="1600" dirty="0"/>
              <a:t> used for its strong performance on high-dimensional feature spaces</a:t>
            </a:r>
          </a:p>
          <a:p>
            <a:pPr marL="0" indent="0">
              <a:buNone/>
            </a:pPr>
            <a:r>
              <a:rPr lang="en-IN" sz="2200" b="1" dirty="0"/>
              <a:t>Training &amp; Validation</a:t>
            </a:r>
          </a:p>
          <a:p>
            <a:r>
              <a:rPr lang="en-IN" sz="1600" dirty="0"/>
              <a:t>Used </a:t>
            </a:r>
            <a:r>
              <a:rPr lang="en-IN" sz="1600" b="1" dirty="0"/>
              <a:t>train–test split</a:t>
            </a:r>
            <a:r>
              <a:rPr lang="en-IN" sz="1600" dirty="0"/>
              <a:t> for unbiased model evaluation</a:t>
            </a:r>
          </a:p>
          <a:p>
            <a:r>
              <a:rPr lang="en-IN" sz="1600" dirty="0"/>
              <a:t>Performance measured using </a:t>
            </a:r>
            <a:r>
              <a:rPr lang="en-IN" sz="1600" b="1" dirty="0"/>
              <a:t>Accuracy, F1-Score, ROC-AUC</a:t>
            </a:r>
            <a:r>
              <a:rPr lang="en-IN" sz="1600" dirty="0"/>
              <a:t>, and confusion matrix</a:t>
            </a:r>
          </a:p>
          <a:p>
            <a:r>
              <a:rPr lang="en-IN" sz="1600" dirty="0"/>
              <a:t>Compared models to select the best performing one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545525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3972D-5A46-75EF-B8E1-72FC2DF6B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Results &amp; Insights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0A09A-C916-DE81-9FBA-DE01FC869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3800" b="1" dirty="0"/>
              <a:t>Model Performance</a:t>
            </a:r>
          </a:p>
          <a:p>
            <a:r>
              <a:rPr lang="en-US" b="1" dirty="0"/>
              <a:t>Train Accuracy:</a:t>
            </a:r>
            <a:r>
              <a:rPr lang="en-US" dirty="0"/>
              <a:t> </a:t>
            </a:r>
            <a:r>
              <a:rPr lang="en-US" b="1" dirty="0"/>
              <a:t>0.9999</a:t>
            </a:r>
            <a:r>
              <a:rPr lang="en-US" dirty="0"/>
              <a:t> — model fits training data extremely well</a:t>
            </a:r>
          </a:p>
          <a:p>
            <a:r>
              <a:rPr lang="en-US" b="1" dirty="0"/>
              <a:t>Test Accuracy:</a:t>
            </a:r>
            <a:r>
              <a:rPr lang="en-US" dirty="0"/>
              <a:t> </a:t>
            </a:r>
            <a:r>
              <a:rPr lang="en-US" b="1" dirty="0"/>
              <a:t>0.8147</a:t>
            </a:r>
            <a:r>
              <a:rPr lang="en-US" dirty="0"/>
              <a:t> — strong generalization performance on unseen data</a:t>
            </a:r>
          </a:p>
          <a:p>
            <a:r>
              <a:rPr lang="en-US" dirty="0"/>
              <a:t>The difference indicates </a:t>
            </a:r>
            <a:r>
              <a:rPr lang="en-US" b="1" dirty="0"/>
              <a:t>some overfitting</a:t>
            </a:r>
            <a:r>
              <a:rPr lang="en-US" dirty="0"/>
              <a:t>, but overall test performance remains solid.</a:t>
            </a:r>
          </a:p>
          <a:p>
            <a:pPr marL="0" indent="0">
              <a:buNone/>
            </a:pPr>
            <a:r>
              <a:rPr lang="en-US" sz="3800" b="1" dirty="0"/>
              <a:t>Key Findings</a:t>
            </a:r>
          </a:p>
          <a:p>
            <a:r>
              <a:rPr lang="en-US" dirty="0"/>
              <a:t>Borrower financial factors such as </a:t>
            </a:r>
            <a:r>
              <a:rPr lang="en-US" b="1" dirty="0"/>
              <a:t>DTI (Debt-to-Income)</a:t>
            </a:r>
            <a:r>
              <a:rPr lang="en-US" dirty="0"/>
              <a:t>, </a:t>
            </a:r>
            <a:r>
              <a:rPr lang="en-US" b="1" dirty="0"/>
              <a:t>annual income</a:t>
            </a:r>
            <a:r>
              <a:rPr lang="en-US" dirty="0"/>
              <a:t>, </a:t>
            </a:r>
            <a:r>
              <a:rPr lang="en-US" b="1" dirty="0"/>
              <a:t>loan amount</a:t>
            </a:r>
            <a:r>
              <a:rPr lang="en-US" dirty="0"/>
              <a:t>, and </a:t>
            </a:r>
            <a:r>
              <a:rPr lang="en-US" b="1" dirty="0"/>
              <a:t>past delinquencies</a:t>
            </a:r>
            <a:r>
              <a:rPr lang="en-US" dirty="0"/>
              <a:t> play a major role in predicting default.</a:t>
            </a:r>
          </a:p>
          <a:p>
            <a:r>
              <a:rPr lang="en-US" dirty="0"/>
              <a:t>Higher DTI and poor repayment history strongly correlate with higher default risk.</a:t>
            </a:r>
          </a:p>
          <a:p>
            <a:pPr marL="0" indent="0">
              <a:buNone/>
            </a:pPr>
            <a:r>
              <a:rPr lang="en-US" sz="3800" b="1" dirty="0"/>
              <a:t>Model Comparison</a:t>
            </a:r>
          </a:p>
          <a:p>
            <a:r>
              <a:rPr lang="en-US" b="1" dirty="0"/>
              <a:t>Random Forest</a:t>
            </a:r>
            <a:r>
              <a:rPr lang="en-US" dirty="0"/>
              <a:t> demonstrated the best balance of accuracy and interpretability.</a:t>
            </a:r>
          </a:p>
          <a:p>
            <a:r>
              <a:rPr lang="en-US" dirty="0"/>
              <a:t>SVM performed reasonably but was outperformed by Random Forest on key metrics.</a:t>
            </a:r>
          </a:p>
          <a:p>
            <a:pPr marL="0" indent="0">
              <a:buNone/>
            </a:pPr>
            <a:r>
              <a:rPr lang="en-US" sz="3600" b="1" dirty="0"/>
              <a:t>Overall Insight</a:t>
            </a:r>
          </a:p>
          <a:p>
            <a:r>
              <a:rPr lang="en-US" dirty="0"/>
              <a:t>The model effectively identifies high-risk borrowers, enabling better decision-making and reducing potential loan losses.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3079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47130-32D6-43BD-56A7-03EB3794F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Challenges, Learnings &amp; Next Steps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5E4E7-4314-B019-4464-D23C0CCDE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3800" b="1" dirty="0"/>
              <a:t>Challenges</a:t>
            </a:r>
          </a:p>
          <a:p>
            <a:r>
              <a:rPr lang="en-US" dirty="0"/>
              <a:t>Faced errors during data preprocessing and model training, which delayed the workflow.</a:t>
            </a:r>
          </a:p>
          <a:p>
            <a:r>
              <a:rPr lang="en-US" dirty="0"/>
              <a:t>Handling missing values, large feature sets, and encoding inconsistencies required multiple fixes.</a:t>
            </a:r>
          </a:p>
          <a:p>
            <a:r>
              <a:rPr lang="en-US" dirty="0"/>
              <a:t>Initial models showed signs of overfitting, needing additional tuning.</a:t>
            </a:r>
          </a:p>
          <a:p>
            <a:pPr marL="0" indent="0">
              <a:buNone/>
            </a:pPr>
            <a:r>
              <a:rPr lang="en-US" sz="3800" b="1" dirty="0"/>
              <a:t>Learnings</a:t>
            </a:r>
          </a:p>
          <a:p>
            <a:r>
              <a:rPr lang="en-US" dirty="0"/>
              <a:t>Gained a clearer understanding of data cleaning, encoding, and feature handling.</a:t>
            </a:r>
          </a:p>
          <a:p>
            <a:r>
              <a:rPr lang="en-US" dirty="0"/>
              <a:t>Learned how preprocessing steps directly impact model performance.</a:t>
            </a:r>
          </a:p>
          <a:p>
            <a:r>
              <a:rPr lang="en-US" dirty="0"/>
              <a:t>Improved debugging skills through resolving training-time errors.</a:t>
            </a:r>
          </a:p>
          <a:p>
            <a:pPr marL="0" indent="0">
              <a:buNone/>
            </a:pPr>
            <a:r>
              <a:rPr lang="en-US" sz="3800" b="1" dirty="0"/>
              <a:t>Next Steps</a:t>
            </a:r>
          </a:p>
          <a:p>
            <a:r>
              <a:rPr lang="en-US" dirty="0"/>
              <a:t>Optimize the model further using hyperparameter tuning and cross-validation.</a:t>
            </a:r>
          </a:p>
          <a:p>
            <a:r>
              <a:rPr lang="en-US" dirty="0"/>
              <a:t>Address overfitting through regularization or better feature selection.</a:t>
            </a:r>
          </a:p>
          <a:p>
            <a:r>
              <a:rPr lang="en-US" dirty="0"/>
              <a:t>Explore advanced algorithms (</a:t>
            </a:r>
            <a:r>
              <a:rPr lang="en-US" dirty="0" err="1"/>
              <a:t>XGBoost</a:t>
            </a:r>
            <a:r>
              <a:rPr lang="en-US" dirty="0"/>
              <a:t>, </a:t>
            </a:r>
            <a:r>
              <a:rPr lang="en-US" dirty="0" err="1"/>
              <a:t>LightGBM</a:t>
            </a:r>
            <a:r>
              <a:rPr lang="en-US" dirty="0"/>
              <a:t>) for improved performance.</a:t>
            </a:r>
          </a:p>
          <a:p>
            <a:r>
              <a:rPr lang="en-US" dirty="0"/>
              <a:t>Deploy the final model for real-time loan default prediction.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0490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568</Words>
  <Application>Microsoft Office PowerPoint</Application>
  <PresentationFormat>Widescreen</PresentationFormat>
  <Paragraphs>63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Loan-Defaulter-Predictor</vt:lpstr>
      <vt:lpstr>Introduction &amp; Objective</vt:lpstr>
      <vt:lpstr>Data Understanding &amp; Cleaning</vt:lpstr>
      <vt:lpstr>Approach / Methodology</vt:lpstr>
      <vt:lpstr>Results &amp; Insights</vt:lpstr>
      <vt:lpstr>Challenges, Learnings &amp;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Harshit Waldia</dc:creator>
  <cp:lastModifiedBy>Harshit Waldia</cp:lastModifiedBy>
  <cp:revision>1</cp:revision>
  <dcterms:created xsi:type="dcterms:W3CDTF">2025-11-18T13:41:36Z</dcterms:created>
  <dcterms:modified xsi:type="dcterms:W3CDTF">2025-11-18T13:52:21Z</dcterms:modified>
</cp:coreProperties>
</file>